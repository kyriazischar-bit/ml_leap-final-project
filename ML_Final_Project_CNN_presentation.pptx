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Inter" panose="020B0604020202020204" charset="0"/>
      <p:regular r:id="rId10"/>
      <p:bold r:id="rId11"/>
      <p:italic r:id="rId12"/>
      <p:boldItalic r:id="rId13"/>
    </p:embeddedFont>
    <p:embeddedFont>
      <p:font typeface="Space Grotesk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791200" y="4656683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4661296" y="1734591"/>
            <a:ext cx="286940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ML LEAP FINAL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70296" y="2077491"/>
            <a:ext cx="11251406" cy="134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Αν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αγνώριση Χειρόγραφων Ψηφίων με CNNs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928812" y="3647033"/>
            <a:ext cx="833437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Εξερευνώντ</a:t>
            </a: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ας την επίδραση του βάθους του δικτύου στην ταξινόμηση του MNIST dataset.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845843" y="4923383"/>
            <a:ext cx="250031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Κυριαζής Χαριτόπουλος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322138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411286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500434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609600" y="1295548"/>
            <a:ext cx="62865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ΣΤΟΧΟΣ &amp; ΜΕΘΟΔΟΛΟΓΙΑ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09600" y="1638448"/>
            <a:ext cx="5380672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Εξ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αγωγή Χωρικών Ιεραρχιών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3192809"/>
            <a:ext cx="47339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Βασικό Μοντέλο: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Αξιολόγηση μιας απλής, σταθερής αρχιτεκτονικής.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00125" y="4084290"/>
            <a:ext cx="47339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Αύξηση Βάθους: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Επαναληπτική προσθήκη συνволюτικών επιπέδων.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00125" y="4975770"/>
            <a:ext cx="4733925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Στόχος: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Μείωση σφαλμάτων σε πολύπλοκα μοτίβα.</a:t>
            </a:r>
            <a:endParaRPr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7E1B1705-9EEF-7A54-D296-F01473670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701" y="2975250"/>
            <a:ext cx="5051349" cy="987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609600" y="2990850"/>
            <a:ext cx="3454449" cy="2409825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4368849" y="2990850"/>
            <a:ext cx="3454449" cy="2409825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8128099" y="2990850"/>
            <a:ext cx="3454449" cy="2409825"/>
          </a:xfrm>
          <a:prstGeom prst="roundRect">
            <a:avLst>
              <a:gd name="adj" fmla="val 632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6725" y="33718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38825" y="3371850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6649" y="33718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-381000" y="762000"/>
            <a:ext cx="12954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ΤΕΧΝΟΛΟΓΙΚΟ ΥΠΟΒΑΘΡΟ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-381000" y="1104900"/>
            <a:ext cx="129540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Αρχιτεκτονική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&amp;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Εκ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παίδευση</a:t>
            </a:r>
            <a:endParaRPr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569904" y="4057650"/>
            <a:ext cx="353384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Προετοιμασία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54043" y="4505325"/>
            <a:ext cx="336556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Διαχωρισμός Stratified, κανονικοποίηση σε [0, 1].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329154" y="4057650"/>
            <a:ext cx="353384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Δομή CNN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413293" y="4505325"/>
            <a:ext cx="336556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Επίπεδα Conv2D, MaxPooling2D, και Dense.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088403" y="4057650"/>
            <a:ext cx="353384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Βελτιστοποίηση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172543" y="4505325"/>
            <a:ext cx="336556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Adam, Dropout (0.3), και EarlyStopping.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9787" y="48577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-381000" y="762000"/>
            <a:ext cx="12954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ΣΥΓΚΡΙΤΙΚΗ ΑΝΑΛΥΣΗ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-381000" y="1104900"/>
            <a:ext cx="129540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64E3B"/>
                </a:solidFill>
                <a:latin typeface="Space Grotesk"/>
                <a:ea typeface="Space Grotesk"/>
                <a:cs typeface="Space Grotesk"/>
                <a:sym typeface="Space Grotesk"/>
              </a:rPr>
              <a:t>Η Επίδραση του Βάθους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-381000" y="1914525"/>
            <a:ext cx="12954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Σημαντική βελτίωση της απόδοσης με προσθήκη ενός Conv2D.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96515" y="3576637"/>
            <a:ext cx="29408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Μοντέλο 1 (Baseline)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96515" y="4005262"/>
            <a:ext cx="294084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334155"/>
                </a:solidFill>
                <a:latin typeface="Space Grotesk"/>
                <a:ea typeface="Space Grotesk"/>
                <a:cs typeface="Space Grotesk"/>
                <a:sym typeface="Space Grotesk"/>
              </a:rPr>
              <a:t>98.7%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96515" y="4843462"/>
            <a:ext cx="2940843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Ακρίβεια Δοκιμής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96515" y="5195887"/>
            <a:ext cx="294084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184 Σφάλματα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475559" y="3686175"/>
            <a:ext cx="3345656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16A34A"/>
                </a:solidFill>
                <a:latin typeface="Space Grotesk"/>
                <a:ea typeface="Space Grotesk"/>
                <a:cs typeface="Space Grotesk"/>
                <a:sym typeface="Space Grotesk"/>
              </a:rPr>
              <a:t>-21.7%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475559" y="4438650"/>
            <a:ext cx="334565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5803D"/>
                </a:solidFill>
                <a:latin typeface="Inter"/>
                <a:ea typeface="Inter"/>
                <a:cs typeface="Inter"/>
                <a:sym typeface="Inter"/>
              </a:rPr>
              <a:t>ΣΥΝΟΛΙΚΟ ΠΟΣΟΣΤΟ ΣΦΑΛΜΑΤΟΣ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672512" y="3576637"/>
            <a:ext cx="2809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Μοντέλο 2 (Deeper)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672512" y="4005262"/>
            <a:ext cx="2809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6A34A"/>
                </a:solidFill>
                <a:latin typeface="Space Grotesk"/>
                <a:ea typeface="Space Grotesk"/>
                <a:cs typeface="Space Grotesk"/>
                <a:sym typeface="Space Grotesk"/>
              </a:rPr>
              <a:t>99.0%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672512" y="4843462"/>
            <a:ext cx="2809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Ακρίβεια Δοκιμής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672512" y="5195887"/>
            <a:ext cx="2809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144 Σφάλματα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/>
          <p:nvPr/>
        </p:nvSpPr>
        <p:spPr>
          <a:xfrm>
            <a:off x="6400800" y="1292572"/>
            <a:ext cx="5791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ΠΙΝΑΚΕΣ ΣΥΓΧΥΣΗΣ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400800" y="1635472"/>
            <a:ext cx="57912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Εντοπισμός Αδυναμιών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400800" y="2565052"/>
            <a:ext cx="57912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Μείωση Σφαλμάτων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400800" y="2917477"/>
            <a:ext cx="5276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Διαχωρισμός οπτικά παρόμοιων ψηφίων με μεγαλύτερη σιγουριά.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400800" y="3755677"/>
            <a:ext cx="57912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Ενεργές Δυσκολίες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400800" y="4108102"/>
            <a:ext cx="52768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Φυσική απόκλιση στη γραφή (π.χ. σύγχυση μεταξύ 4 και 9).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400800" y="4946302"/>
            <a:ext cx="57912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Σταθερότητα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400800" y="5298727"/>
            <a:ext cx="57912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Ομαλή σύγκλιση χωρίς σημάδια υπερπροσαρμογής.</a:t>
            </a:r>
            <a:endParaRPr/>
          </a:p>
        </p:txBody>
      </p:sp>
      <p:pic>
        <p:nvPicPr>
          <p:cNvPr id="3" name="Εικόνα 2">
            <a:extLst>
              <a:ext uri="{FF2B5EF4-FFF2-40B4-BE49-F238E27FC236}">
                <a16:creationId xmlns:a16="http://schemas.microsoft.com/office/drawing/2014/main" id="{29B8A8BE-7A2D-4BCE-80A7-D3EFB9306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842" y="1211315"/>
            <a:ext cx="5432357" cy="1945473"/>
          </a:xfrm>
          <a:prstGeom prst="rect">
            <a:avLst/>
          </a:prstGeom>
        </p:spPr>
      </p:pic>
      <p:pic>
        <p:nvPicPr>
          <p:cNvPr id="5" name="Εικόνα 4">
            <a:extLst>
              <a:ext uri="{FF2B5EF4-FFF2-40B4-BE49-F238E27FC236}">
                <a16:creationId xmlns:a16="http://schemas.microsoft.com/office/drawing/2014/main" id="{F1EBEFEF-5851-5AFC-398B-2A7307A6E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771" y="3184177"/>
            <a:ext cx="2994501" cy="31908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/>
          <p:nvPr/>
        </p:nvSpPr>
        <p:spPr>
          <a:xfrm>
            <a:off x="1809750" y="3394620"/>
            <a:ext cx="4095750" cy="2095500"/>
          </a:xfrm>
          <a:prstGeom prst="roundRect">
            <a:avLst>
              <a:gd name="adj" fmla="val 7272"/>
            </a:avLst>
          </a:prstGeom>
          <a:solidFill>
            <a:srgbClr val="1B2335"/>
          </a:solidFill>
          <a:ln w="9525" cap="flat" cmpd="sng">
            <a:solidFill>
              <a:srgbClr val="272E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6286500" y="3394620"/>
            <a:ext cx="4095750" cy="2095500"/>
          </a:xfrm>
          <a:prstGeom prst="roundRect">
            <a:avLst>
              <a:gd name="adj" fmla="val 7272"/>
            </a:avLst>
          </a:prstGeom>
          <a:solidFill>
            <a:srgbClr val="1B2335"/>
          </a:solidFill>
          <a:ln w="9525" cap="flat" cmpd="sng">
            <a:solidFill>
              <a:srgbClr val="272E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7125" y="370894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3875" y="370894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119687" y="1367879"/>
            <a:ext cx="19526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ΣΥΜΠΕΡΑΣΜΑΤΑ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095375" y="1710779"/>
            <a:ext cx="10001250" cy="1226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Επόμενα Βήματα &amp; Βελτιώσεις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582340" y="4280445"/>
            <a:ext cx="455056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Augmentation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1690687" y="4661445"/>
            <a:ext cx="4333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Τυχαίες περιστροφές και μετατοπίσεις για αντοχή στις παραμορφώσεις.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059090" y="4280445"/>
            <a:ext cx="455056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Διαφοροποίηση Δεδομένων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167437" y="4661445"/>
            <a:ext cx="4333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Εκπαίδευση με γραφές από διαφορετικά δημογραφικά και εκπαιδευτικά σύνολα.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/>
          <p:nvPr/>
        </p:nvSpPr>
        <p:spPr>
          <a:xfrm>
            <a:off x="571500" y="866775"/>
            <a:ext cx="11049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71500" y="169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04298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478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666875" y="1009650"/>
            <a:ext cx="10048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https://img.magnific.com/premium-vector/scientific-research-visualization-neural-network-mesh-with-data-streams-light-effects-abstract-digital-background-artificial-intelligence-machine-learning-scientific-analysis-design_299644-23631.jpg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666875" y="1362075"/>
            <a:ext cx="248840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www.magnific.com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666875" y="1890712"/>
            <a:ext cx="973931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https://images.stockcake.com/public/b/e/0/be0b6e46-6cc0-40be-b94a-84b1fb8aab46_large/digital-matrix-visualized-stockcake.jpg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1666875" y="2090737"/>
            <a:ext cx="2119312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253</Words>
  <Application>Microsoft Office PowerPoint</Application>
  <PresentationFormat>Ευρεία οθόνη</PresentationFormat>
  <Paragraphs>49</Paragraphs>
  <Slides>7</Slides>
  <Notes>7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7</vt:i4>
      </vt:variant>
    </vt:vector>
  </HeadingPairs>
  <TitlesOfParts>
    <vt:vector size="12" baseType="lpstr">
      <vt:lpstr>Calibri</vt:lpstr>
      <vt:lpstr>Space Grotesk</vt:lpstr>
      <vt:lpstr>Inter</vt:lpstr>
      <vt:lpstr>Arial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Kyriazis Charitopoulos</cp:lastModifiedBy>
  <cp:revision>4</cp:revision>
  <dcterms:modified xsi:type="dcterms:W3CDTF">2026-10-10T09:07:11Z</dcterms:modified>
</cp:coreProperties>
</file>