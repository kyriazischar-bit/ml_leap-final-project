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embeddedFontLst>
    <p:embeddedFont>
      <p:font typeface="Inter" panose="020B0604020202020204" charset="0"/>
      <p:regular r:id="rId9"/>
      <p:bold r:id="rId10"/>
      <p:italic r:id="rId11"/>
      <p:boldItalic r:id="rId12"/>
    </p:embeddedFont>
    <p:embeddedFont>
      <p:font typeface="Space Grotesk" panose="020B0604020202020204" charset="0"/>
      <p:regular r:id="rId13"/>
      <p:bold r:id="rId1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559" autoAdjust="0"/>
    <p:restoredTop sz="94660"/>
  </p:normalViewPr>
  <p:slideViewPr>
    <p:cSldViewPr snapToGrid="0">
      <p:cViewPr varScale="1">
        <p:scale>
          <a:sx n="58" d="100"/>
          <a:sy n="58" d="100"/>
        </p:scale>
        <p:origin x="62" y="44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1" name="Google Shape;9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5" name="Google Shape;105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1" name="Google Shape;141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6" name="Google Shape;156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3"/>
          <p:cNvSpPr/>
          <p:nvPr/>
        </p:nvSpPr>
        <p:spPr>
          <a:xfrm>
            <a:off x="5791200" y="4656683"/>
            <a:ext cx="609600" cy="3810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5" name="Google Shape;85;p13"/>
          <p:cNvSpPr txBox="1"/>
          <p:nvPr/>
        </p:nvSpPr>
        <p:spPr>
          <a:xfrm>
            <a:off x="4661296" y="1734591"/>
            <a:ext cx="286940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ML LEAP FINAL PROJECT</a:t>
            </a:r>
            <a:endParaRPr/>
          </a:p>
        </p:txBody>
      </p:sp>
      <p:sp>
        <p:nvSpPr>
          <p:cNvPr id="86" name="Google Shape;86;p13"/>
          <p:cNvSpPr txBox="1"/>
          <p:nvPr/>
        </p:nvSpPr>
        <p:spPr>
          <a:xfrm>
            <a:off x="470296" y="2077491"/>
            <a:ext cx="11251406" cy="16250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Handwritten Digit Recognition with CNNs</a:t>
            </a:r>
            <a:endParaRPr dirty="0"/>
          </a:p>
        </p:txBody>
      </p:sp>
      <p:sp>
        <p:nvSpPr>
          <p:cNvPr id="87" name="Google Shape;87;p13"/>
          <p:cNvSpPr txBox="1"/>
          <p:nvPr/>
        </p:nvSpPr>
        <p:spPr>
          <a:xfrm>
            <a:off x="1928812" y="3647033"/>
            <a:ext cx="8334375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Exploring the impact of the network depth on MNIST dataset classification</a:t>
            </a:r>
            <a:endParaRPr dirty="0"/>
          </a:p>
        </p:txBody>
      </p:sp>
      <p:sp>
        <p:nvSpPr>
          <p:cNvPr id="88" name="Google Shape;88;p13"/>
          <p:cNvSpPr txBox="1"/>
          <p:nvPr/>
        </p:nvSpPr>
        <p:spPr>
          <a:xfrm>
            <a:off x="4845843" y="4923383"/>
            <a:ext cx="2500312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Kyriazis Charitopoulos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3221384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4112865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09600" y="5004345"/>
            <a:ext cx="2000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14"/>
          <p:cNvSpPr txBox="1"/>
          <p:nvPr/>
        </p:nvSpPr>
        <p:spPr>
          <a:xfrm>
            <a:off x="609600" y="1295548"/>
            <a:ext cx="6286500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dirty="0">
                <a:solidFill>
                  <a:srgbClr val="3B82F6"/>
                </a:solidFill>
                <a:latin typeface="Inter"/>
                <a:ea typeface="Inter"/>
                <a:sym typeface="Inter"/>
              </a:rPr>
              <a:t>OBJECTIVE &amp; METHODOLOGY</a:t>
            </a:r>
            <a:endParaRPr dirty="0"/>
          </a:p>
        </p:txBody>
      </p:sp>
      <p:sp>
        <p:nvSpPr>
          <p:cNvPr id="99" name="Google Shape;99;p14"/>
          <p:cNvSpPr txBox="1"/>
          <p:nvPr/>
        </p:nvSpPr>
        <p:spPr>
          <a:xfrm>
            <a:off x="609600" y="1638448"/>
            <a:ext cx="5380672" cy="13295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Extraction of </a:t>
            </a:r>
            <a:r>
              <a:rPr lang="en-US" sz="3600" b="1" i="0" u="none" strike="noStrike" cap="none" dirty="0" err="1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Spatioal</a:t>
            </a:r>
            <a:r>
              <a:rPr lang="en-US" sz="36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 Hierarchies</a:t>
            </a:r>
            <a:endParaRPr dirty="0"/>
          </a:p>
        </p:txBody>
      </p:sp>
      <p:sp>
        <p:nvSpPr>
          <p:cNvPr id="100" name="Google Shape;100;p14"/>
          <p:cNvSpPr txBox="1"/>
          <p:nvPr/>
        </p:nvSpPr>
        <p:spPr>
          <a:xfrm>
            <a:off x="1000125" y="3192809"/>
            <a:ext cx="4733925" cy="710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Baseline Model</a:t>
            </a:r>
            <a:r>
              <a:rPr lang="en-US" sz="165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Evaluation od a simple, stable architecture.</a:t>
            </a:r>
            <a:endParaRPr dirty="0"/>
          </a:p>
        </p:txBody>
      </p:sp>
      <p:sp>
        <p:nvSpPr>
          <p:cNvPr id="101" name="Google Shape;101;p14"/>
          <p:cNvSpPr txBox="1"/>
          <p:nvPr/>
        </p:nvSpPr>
        <p:spPr>
          <a:xfrm>
            <a:off x="1000125" y="4084290"/>
            <a:ext cx="4733925" cy="7109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Depth Increase</a:t>
            </a:r>
            <a:r>
              <a:rPr lang="en-US" sz="165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: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Iterative addition of convolutional layers.</a:t>
            </a:r>
            <a:endParaRPr dirty="0"/>
          </a:p>
        </p:txBody>
      </p:sp>
      <p:sp>
        <p:nvSpPr>
          <p:cNvPr id="102" name="Google Shape;102;p14"/>
          <p:cNvSpPr txBox="1"/>
          <p:nvPr/>
        </p:nvSpPr>
        <p:spPr>
          <a:xfrm>
            <a:off x="1000125" y="4975770"/>
            <a:ext cx="4733925" cy="3554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Goal:</a:t>
            </a:r>
            <a:r>
              <a:rPr lang="en-US" sz="1650" b="0" i="0" u="none" strike="noStrike" cap="none" dirty="0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 Reduction of errors in complex patterns.</a:t>
            </a:r>
            <a:endParaRPr dirty="0"/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7E1B1705-9EEF-7A54-D296-F014736701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78701" y="2975250"/>
            <a:ext cx="5051349" cy="98756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/>
          <p:nvPr/>
        </p:nvSpPr>
        <p:spPr>
          <a:xfrm>
            <a:off x="609600" y="2990850"/>
            <a:ext cx="3454449" cy="2409825"/>
          </a:xfrm>
          <a:prstGeom prst="roundRect">
            <a:avLst>
              <a:gd name="adj" fmla="val 6324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4368849" y="2990850"/>
            <a:ext cx="3454449" cy="2409825"/>
          </a:xfrm>
          <a:prstGeom prst="roundRect">
            <a:avLst>
              <a:gd name="adj" fmla="val 6324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15"/>
          <p:cNvSpPr/>
          <p:nvPr/>
        </p:nvSpPr>
        <p:spPr>
          <a:xfrm>
            <a:off x="8128099" y="2990850"/>
            <a:ext cx="3454449" cy="2409825"/>
          </a:xfrm>
          <a:prstGeom prst="roundRect">
            <a:avLst>
              <a:gd name="adj" fmla="val 6324"/>
            </a:avLst>
          </a:prstGeom>
          <a:solidFill>
            <a:srgbClr val="F8FAFC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0" name="Google Shape;110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136725" y="3371850"/>
            <a:ext cx="4000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1" name="Google Shape;111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838825" y="3371850"/>
            <a:ext cx="51435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2" name="Google Shape;112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626649" y="337185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5"/>
          <p:cNvSpPr txBox="1"/>
          <p:nvPr/>
        </p:nvSpPr>
        <p:spPr>
          <a:xfrm>
            <a:off x="-381000" y="762000"/>
            <a:ext cx="129540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TECHNICAL BACKGROUND</a:t>
            </a:r>
            <a:endParaRPr dirty="0"/>
          </a:p>
        </p:txBody>
      </p:sp>
      <p:sp>
        <p:nvSpPr>
          <p:cNvPr id="114" name="Google Shape;114;p15"/>
          <p:cNvSpPr txBox="1"/>
          <p:nvPr/>
        </p:nvSpPr>
        <p:spPr>
          <a:xfrm>
            <a:off x="-381000" y="1104900"/>
            <a:ext cx="1295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Architecture &amp; Training</a:t>
            </a:r>
            <a:endParaRPr lang="el-GR" dirty="0"/>
          </a:p>
        </p:txBody>
      </p:sp>
      <p:sp>
        <p:nvSpPr>
          <p:cNvPr id="115" name="Google Shape;115;p15"/>
          <p:cNvSpPr txBox="1"/>
          <p:nvPr/>
        </p:nvSpPr>
        <p:spPr>
          <a:xfrm>
            <a:off x="569904" y="4057650"/>
            <a:ext cx="353384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</a:t>
            </a:r>
            <a:r>
              <a:rPr lang="en-US" sz="1800" b="1" i="0" u="none" strike="noStrike" cap="none" dirty="0" err="1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Preperation</a:t>
            </a:r>
            <a:endParaRPr dirty="0"/>
          </a:p>
        </p:txBody>
      </p:sp>
      <p:sp>
        <p:nvSpPr>
          <p:cNvPr id="116" name="Google Shape;116;p15"/>
          <p:cNvSpPr txBox="1"/>
          <p:nvPr/>
        </p:nvSpPr>
        <p:spPr>
          <a:xfrm>
            <a:off x="654043" y="4505325"/>
            <a:ext cx="3365562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Stratified split, normalization to [0, 1]</a:t>
            </a:r>
            <a:endParaRPr dirty="0"/>
          </a:p>
        </p:txBody>
      </p:sp>
      <p:sp>
        <p:nvSpPr>
          <p:cNvPr id="117" name="Google Shape;117;p15"/>
          <p:cNvSpPr txBox="1"/>
          <p:nvPr/>
        </p:nvSpPr>
        <p:spPr>
          <a:xfrm>
            <a:off x="4329154" y="4057650"/>
            <a:ext cx="353384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CNN Structure</a:t>
            </a:r>
            <a:endParaRPr dirty="0"/>
          </a:p>
        </p:txBody>
      </p:sp>
      <p:sp>
        <p:nvSpPr>
          <p:cNvPr id="118" name="Google Shape;118;p15"/>
          <p:cNvSpPr txBox="1"/>
          <p:nvPr/>
        </p:nvSpPr>
        <p:spPr>
          <a:xfrm>
            <a:off x="4413293" y="4505325"/>
            <a:ext cx="3365562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Conv2D, MaxPooling2D</a:t>
            </a:r>
            <a:r>
              <a:rPr lang="en-US" sz="13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and 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Dense layers.</a:t>
            </a:r>
            <a:endParaRPr dirty="0"/>
          </a:p>
        </p:txBody>
      </p:sp>
      <p:sp>
        <p:nvSpPr>
          <p:cNvPr id="119" name="Google Shape;119;p15"/>
          <p:cNvSpPr txBox="1"/>
          <p:nvPr/>
        </p:nvSpPr>
        <p:spPr>
          <a:xfrm>
            <a:off x="8088403" y="4057650"/>
            <a:ext cx="3533840" cy="2769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Optimization</a:t>
            </a:r>
            <a:endParaRPr dirty="0"/>
          </a:p>
        </p:txBody>
      </p:sp>
      <p:sp>
        <p:nvSpPr>
          <p:cNvPr id="120" name="Google Shape;120;p15"/>
          <p:cNvSpPr txBox="1"/>
          <p:nvPr/>
        </p:nvSpPr>
        <p:spPr>
          <a:xfrm>
            <a:off x="8172543" y="4505325"/>
            <a:ext cx="3365562" cy="31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Adam, Dropout (0.3), </a:t>
            </a:r>
            <a:r>
              <a:rPr lang="en-US" sz="1350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and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350" b="0" i="0" u="none" strike="noStrike" cap="none" dirty="0" err="1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EarlyStopping</a:t>
            </a:r>
            <a:r>
              <a:rPr lang="en-US" sz="135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DF4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5" name="Google Shape;125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919787" y="485775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6"/>
          <p:cNvSpPr txBox="1"/>
          <p:nvPr/>
        </p:nvSpPr>
        <p:spPr>
          <a:xfrm>
            <a:off x="-381000" y="762000"/>
            <a:ext cx="129540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16A34A"/>
                </a:solidFill>
                <a:latin typeface="Inter"/>
                <a:ea typeface="Inter"/>
                <a:cs typeface="Inter"/>
                <a:sym typeface="Inter"/>
              </a:rPr>
              <a:t>COMPARATIVE ANALYSIS</a:t>
            </a:r>
            <a:endParaRPr dirty="0"/>
          </a:p>
        </p:txBody>
      </p:sp>
      <p:sp>
        <p:nvSpPr>
          <p:cNvPr id="127" name="Google Shape;127;p16"/>
          <p:cNvSpPr txBox="1"/>
          <p:nvPr/>
        </p:nvSpPr>
        <p:spPr>
          <a:xfrm>
            <a:off x="-381000" y="1104900"/>
            <a:ext cx="129540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64E3B"/>
                </a:solidFill>
                <a:latin typeface="Space Grotesk"/>
                <a:ea typeface="Space Grotesk"/>
                <a:cs typeface="Space Grotesk"/>
                <a:sym typeface="Space Grotesk"/>
              </a:rPr>
              <a:t>The Impact of Depth</a:t>
            </a:r>
            <a:endParaRPr dirty="0"/>
          </a:p>
        </p:txBody>
      </p:sp>
      <p:sp>
        <p:nvSpPr>
          <p:cNvPr id="128" name="Google Shape;128;p16"/>
          <p:cNvSpPr txBox="1"/>
          <p:nvPr/>
        </p:nvSpPr>
        <p:spPr>
          <a:xfrm>
            <a:off x="-381000" y="1914525"/>
            <a:ext cx="129540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065F46"/>
                </a:solidFill>
                <a:latin typeface="Inter"/>
                <a:ea typeface="Inter"/>
                <a:cs typeface="Inter"/>
                <a:sym typeface="Inter"/>
              </a:rPr>
              <a:t>Significant performance improvement with the addition of Conv2D layer.</a:t>
            </a:r>
            <a:endParaRPr dirty="0"/>
          </a:p>
        </p:txBody>
      </p:sp>
      <p:sp>
        <p:nvSpPr>
          <p:cNvPr id="129" name="Google Shape;129;p16"/>
          <p:cNvSpPr txBox="1"/>
          <p:nvPr/>
        </p:nvSpPr>
        <p:spPr>
          <a:xfrm>
            <a:off x="696515" y="3576637"/>
            <a:ext cx="2940843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Model 1 (Baseline)</a:t>
            </a:r>
            <a:endParaRPr dirty="0"/>
          </a:p>
        </p:txBody>
      </p:sp>
      <p:sp>
        <p:nvSpPr>
          <p:cNvPr id="130" name="Google Shape;130;p16"/>
          <p:cNvSpPr txBox="1"/>
          <p:nvPr/>
        </p:nvSpPr>
        <p:spPr>
          <a:xfrm>
            <a:off x="696515" y="4005262"/>
            <a:ext cx="2940843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334155"/>
                </a:solidFill>
                <a:latin typeface="Space Grotesk"/>
                <a:ea typeface="Space Grotesk"/>
                <a:cs typeface="Space Grotesk"/>
                <a:sym typeface="Space Grotesk"/>
              </a:rPr>
              <a:t>98.7%</a:t>
            </a:r>
            <a:endParaRPr/>
          </a:p>
        </p:txBody>
      </p:sp>
      <p:sp>
        <p:nvSpPr>
          <p:cNvPr id="131" name="Google Shape;131;p16"/>
          <p:cNvSpPr txBox="1"/>
          <p:nvPr/>
        </p:nvSpPr>
        <p:spPr>
          <a:xfrm>
            <a:off x="696515" y="4843462"/>
            <a:ext cx="2940843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rPr>
              <a:t>Test Accuracy</a:t>
            </a:r>
            <a:endParaRPr dirty="0"/>
          </a:p>
        </p:txBody>
      </p:sp>
      <p:sp>
        <p:nvSpPr>
          <p:cNvPr id="132" name="Google Shape;132;p16"/>
          <p:cNvSpPr txBox="1"/>
          <p:nvPr/>
        </p:nvSpPr>
        <p:spPr>
          <a:xfrm>
            <a:off x="696515" y="5195887"/>
            <a:ext cx="2940843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EF4444"/>
                </a:solidFill>
                <a:latin typeface="Inter"/>
                <a:ea typeface="Inter"/>
                <a:cs typeface="Inter"/>
                <a:sym typeface="Inter"/>
              </a:rPr>
              <a:t>184 Errors</a:t>
            </a:r>
            <a:endParaRPr dirty="0"/>
          </a:p>
        </p:txBody>
      </p:sp>
      <p:sp>
        <p:nvSpPr>
          <p:cNvPr id="133" name="Google Shape;133;p16"/>
          <p:cNvSpPr txBox="1"/>
          <p:nvPr/>
        </p:nvSpPr>
        <p:spPr>
          <a:xfrm>
            <a:off x="4475559" y="3686175"/>
            <a:ext cx="3345656" cy="6762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i="0" u="none" strike="noStrike" cap="none">
                <a:solidFill>
                  <a:srgbClr val="16A34A"/>
                </a:solidFill>
                <a:latin typeface="Space Grotesk"/>
                <a:ea typeface="Space Grotesk"/>
                <a:cs typeface="Space Grotesk"/>
                <a:sym typeface="Space Grotesk"/>
              </a:rPr>
              <a:t>-21.7%</a:t>
            </a:r>
            <a:endParaRPr/>
          </a:p>
        </p:txBody>
      </p:sp>
      <p:sp>
        <p:nvSpPr>
          <p:cNvPr id="134" name="Google Shape;134;p16"/>
          <p:cNvSpPr txBox="1"/>
          <p:nvPr/>
        </p:nvSpPr>
        <p:spPr>
          <a:xfrm>
            <a:off x="4475559" y="4438650"/>
            <a:ext cx="3345656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15803D"/>
                </a:solidFill>
                <a:latin typeface="Inter"/>
                <a:ea typeface="Inter"/>
                <a:cs typeface="Inter"/>
                <a:sym typeface="Inter"/>
              </a:rPr>
              <a:t>Total Error Rate Reduction</a:t>
            </a:r>
            <a:endParaRPr dirty="0"/>
          </a:p>
        </p:txBody>
      </p:sp>
      <p:sp>
        <p:nvSpPr>
          <p:cNvPr id="135" name="Google Shape;135;p16"/>
          <p:cNvSpPr txBox="1"/>
          <p:nvPr/>
        </p:nvSpPr>
        <p:spPr>
          <a:xfrm>
            <a:off x="8672512" y="3576637"/>
            <a:ext cx="28098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Model 2 (Deeper)</a:t>
            </a:r>
            <a:endParaRPr dirty="0"/>
          </a:p>
        </p:txBody>
      </p:sp>
      <p:sp>
        <p:nvSpPr>
          <p:cNvPr id="136" name="Google Shape;136;p16"/>
          <p:cNvSpPr txBox="1"/>
          <p:nvPr/>
        </p:nvSpPr>
        <p:spPr>
          <a:xfrm>
            <a:off x="8672512" y="4005262"/>
            <a:ext cx="2809875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b="1" i="0" u="none" strike="noStrike" cap="none">
                <a:solidFill>
                  <a:srgbClr val="16A34A"/>
                </a:solidFill>
                <a:latin typeface="Space Grotesk"/>
                <a:ea typeface="Space Grotesk"/>
                <a:cs typeface="Space Grotesk"/>
                <a:sym typeface="Space Grotesk"/>
              </a:rPr>
              <a:t>99.0%</a:t>
            </a:r>
            <a:endParaRPr/>
          </a:p>
        </p:txBody>
      </p:sp>
      <p:sp>
        <p:nvSpPr>
          <p:cNvPr id="137" name="Google Shape;137;p16"/>
          <p:cNvSpPr txBox="1"/>
          <p:nvPr/>
        </p:nvSpPr>
        <p:spPr>
          <a:xfrm>
            <a:off x="8672512" y="4843462"/>
            <a:ext cx="2809875" cy="215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dirty="0">
                <a:solidFill>
                  <a:srgbClr val="64748B"/>
                </a:solidFill>
                <a:latin typeface="Inter"/>
                <a:ea typeface="Inter"/>
                <a:sym typeface="Inter"/>
              </a:rPr>
              <a:t>Test Accuracy</a:t>
            </a:r>
            <a:endParaRPr dirty="0"/>
          </a:p>
        </p:txBody>
      </p:sp>
      <p:sp>
        <p:nvSpPr>
          <p:cNvPr id="138" name="Google Shape;138;p16"/>
          <p:cNvSpPr txBox="1"/>
          <p:nvPr/>
        </p:nvSpPr>
        <p:spPr>
          <a:xfrm>
            <a:off x="8672512" y="5195887"/>
            <a:ext cx="280987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144 Errors</a:t>
            </a:r>
            <a:endParaRPr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17"/>
          <p:cNvSpPr txBox="1"/>
          <p:nvPr/>
        </p:nvSpPr>
        <p:spPr>
          <a:xfrm>
            <a:off x="6400800" y="1292572"/>
            <a:ext cx="5791200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3B82F6"/>
                </a:solidFill>
                <a:latin typeface="Inter"/>
                <a:ea typeface="Inter"/>
                <a:cs typeface="Inter"/>
                <a:sym typeface="Inter"/>
              </a:rPr>
              <a:t>CONFUSION MATRICES</a:t>
            </a:r>
            <a:endParaRPr dirty="0"/>
          </a:p>
        </p:txBody>
      </p:sp>
      <p:sp>
        <p:nvSpPr>
          <p:cNvPr id="147" name="Google Shape;147;p17"/>
          <p:cNvSpPr txBox="1"/>
          <p:nvPr/>
        </p:nvSpPr>
        <p:spPr>
          <a:xfrm>
            <a:off x="6400800" y="1635472"/>
            <a:ext cx="57912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 dirty="0">
                <a:solidFill>
                  <a:srgbClr val="0F172A"/>
                </a:solidFill>
                <a:latin typeface="Space Grotesk"/>
                <a:ea typeface="Space Grotesk"/>
                <a:cs typeface="Space Grotesk"/>
                <a:sym typeface="Space Grotesk"/>
              </a:rPr>
              <a:t>Identifying Weaknesses</a:t>
            </a:r>
            <a:endParaRPr dirty="0"/>
          </a:p>
        </p:txBody>
      </p:sp>
      <p:sp>
        <p:nvSpPr>
          <p:cNvPr id="148" name="Google Shape;148;p17"/>
          <p:cNvSpPr txBox="1"/>
          <p:nvPr/>
        </p:nvSpPr>
        <p:spPr>
          <a:xfrm>
            <a:off x="6400800" y="2565052"/>
            <a:ext cx="57912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Error Reduction</a:t>
            </a:r>
            <a:endParaRPr dirty="0"/>
          </a:p>
        </p:txBody>
      </p:sp>
      <p:sp>
        <p:nvSpPr>
          <p:cNvPr id="149" name="Google Shape;149;p17"/>
          <p:cNvSpPr txBox="1"/>
          <p:nvPr/>
        </p:nvSpPr>
        <p:spPr>
          <a:xfrm>
            <a:off x="6400800" y="2917477"/>
            <a:ext cx="527685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Separation of visually similar digits with higher confidence.</a:t>
            </a:r>
            <a:endParaRPr dirty="0"/>
          </a:p>
        </p:txBody>
      </p:sp>
      <p:sp>
        <p:nvSpPr>
          <p:cNvPr id="150" name="Google Shape;150;p17"/>
          <p:cNvSpPr txBox="1"/>
          <p:nvPr/>
        </p:nvSpPr>
        <p:spPr>
          <a:xfrm>
            <a:off x="6400800" y="3755677"/>
            <a:ext cx="57912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Active difficulties</a:t>
            </a:r>
            <a:endParaRPr dirty="0"/>
          </a:p>
        </p:txBody>
      </p:sp>
      <p:sp>
        <p:nvSpPr>
          <p:cNvPr id="151" name="Google Shape;151;p17"/>
          <p:cNvSpPr txBox="1"/>
          <p:nvPr/>
        </p:nvSpPr>
        <p:spPr>
          <a:xfrm>
            <a:off x="6400800" y="4108102"/>
            <a:ext cx="5276850" cy="64633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Natural handwriting variations (e.g. confusion between 4 and 9.</a:t>
            </a:r>
            <a:endParaRPr dirty="0"/>
          </a:p>
        </p:txBody>
      </p:sp>
      <p:sp>
        <p:nvSpPr>
          <p:cNvPr id="152" name="Google Shape;152;p17"/>
          <p:cNvSpPr txBox="1"/>
          <p:nvPr/>
        </p:nvSpPr>
        <p:spPr>
          <a:xfrm>
            <a:off x="6400800" y="4946302"/>
            <a:ext cx="579120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i="0" u="none" strike="noStrike" cap="none" dirty="0">
                <a:solidFill>
                  <a:srgbClr val="0F172A"/>
                </a:solidFill>
                <a:latin typeface="Inter"/>
                <a:ea typeface="Inter"/>
                <a:cs typeface="Inter"/>
                <a:sym typeface="Inter"/>
              </a:rPr>
              <a:t>Stability</a:t>
            </a:r>
            <a:endParaRPr dirty="0"/>
          </a:p>
        </p:txBody>
      </p:sp>
      <p:sp>
        <p:nvSpPr>
          <p:cNvPr id="153" name="Google Shape;153;p17"/>
          <p:cNvSpPr txBox="1"/>
          <p:nvPr/>
        </p:nvSpPr>
        <p:spPr>
          <a:xfrm>
            <a:off x="6400800" y="5298727"/>
            <a:ext cx="5791200" cy="32316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 dirty="0">
                <a:solidFill>
                  <a:srgbClr val="475569"/>
                </a:solidFill>
                <a:latin typeface="Inter"/>
                <a:ea typeface="Inter"/>
                <a:cs typeface="Inter"/>
                <a:sym typeface="Inter"/>
              </a:rPr>
              <a:t>Smooth convergence without overfitting signs.</a:t>
            </a:r>
            <a:endParaRPr dirty="0"/>
          </a:p>
        </p:txBody>
      </p:sp>
      <p:pic>
        <p:nvPicPr>
          <p:cNvPr id="3" name="Εικόνα 2">
            <a:extLst>
              <a:ext uri="{FF2B5EF4-FFF2-40B4-BE49-F238E27FC236}">
                <a16:creationId xmlns:a16="http://schemas.microsoft.com/office/drawing/2014/main" id="{29B8A8BE-7A2D-4BCE-80A7-D3EFB93068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842" y="1211315"/>
            <a:ext cx="5432357" cy="1945473"/>
          </a:xfrm>
          <a:prstGeom prst="rect">
            <a:avLst/>
          </a:prstGeom>
        </p:spPr>
      </p:pic>
      <p:pic>
        <p:nvPicPr>
          <p:cNvPr id="5" name="Εικόνα 4">
            <a:extLst>
              <a:ext uri="{FF2B5EF4-FFF2-40B4-BE49-F238E27FC236}">
                <a16:creationId xmlns:a16="http://schemas.microsoft.com/office/drawing/2014/main" id="{F1EBEFEF-5851-5AFC-398B-2A7307A6EE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7771" y="3184177"/>
            <a:ext cx="2994501" cy="31908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8"/>
          <p:cNvSpPr/>
          <p:nvPr/>
        </p:nvSpPr>
        <p:spPr>
          <a:xfrm>
            <a:off x="1809750" y="3394620"/>
            <a:ext cx="4095750" cy="2095500"/>
          </a:xfrm>
          <a:prstGeom prst="roundRect">
            <a:avLst>
              <a:gd name="adj" fmla="val 7272"/>
            </a:avLst>
          </a:prstGeom>
          <a:solidFill>
            <a:srgbClr val="1B2335"/>
          </a:solidFill>
          <a:ln w="9525" cap="flat" cmpd="sng">
            <a:solidFill>
              <a:srgbClr val="272E3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18"/>
          <p:cNvSpPr/>
          <p:nvPr/>
        </p:nvSpPr>
        <p:spPr>
          <a:xfrm>
            <a:off x="6286500" y="3394620"/>
            <a:ext cx="4095750" cy="2095500"/>
          </a:xfrm>
          <a:prstGeom prst="roundRect">
            <a:avLst>
              <a:gd name="adj" fmla="val 7272"/>
            </a:avLst>
          </a:prstGeom>
          <a:solidFill>
            <a:srgbClr val="1B2335"/>
          </a:solidFill>
          <a:ln w="9525" cap="flat" cmpd="sng">
            <a:solidFill>
              <a:srgbClr val="272E3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0" name="Google Shape;16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667125" y="3708945"/>
            <a:ext cx="38100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1" name="Google Shape;16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8143875" y="3708945"/>
            <a:ext cx="38100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18"/>
          <p:cNvSpPr txBox="1"/>
          <p:nvPr/>
        </p:nvSpPr>
        <p:spPr>
          <a:xfrm>
            <a:off x="5119687" y="1367879"/>
            <a:ext cx="1952625" cy="19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>
                <a:solidFill>
                  <a:srgbClr val="60A5FA"/>
                </a:solidFill>
                <a:latin typeface="Inter"/>
                <a:ea typeface="Inter"/>
                <a:cs typeface="Inter"/>
                <a:sym typeface="Inter"/>
              </a:rPr>
              <a:t>CONCLUSIONS</a:t>
            </a:r>
            <a:endParaRPr dirty="0"/>
          </a:p>
        </p:txBody>
      </p:sp>
      <p:sp>
        <p:nvSpPr>
          <p:cNvPr id="163" name="Google Shape;163;p18"/>
          <p:cNvSpPr txBox="1"/>
          <p:nvPr/>
        </p:nvSpPr>
        <p:spPr>
          <a:xfrm>
            <a:off x="1095375" y="1710779"/>
            <a:ext cx="10001250" cy="7432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200" b="1" dirty="0">
                <a:solidFill>
                  <a:srgbClr val="F8FAFC"/>
                </a:solidFill>
                <a:latin typeface="Space Grotesk"/>
                <a:cs typeface="Space Grotesk"/>
                <a:sym typeface="Space Grotesk"/>
              </a:rPr>
              <a:t>Next Steps &amp; Improvements</a:t>
            </a:r>
            <a:endParaRPr dirty="0"/>
          </a:p>
        </p:txBody>
      </p:sp>
      <p:sp>
        <p:nvSpPr>
          <p:cNvPr id="164" name="Google Shape;164;p18"/>
          <p:cNvSpPr txBox="1"/>
          <p:nvPr/>
        </p:nvSpPr>
        <p:spPr>
          <a:xfrm>
            <a:off x="1582340" y="4280445"/>
            <a:ext cx="4550568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Augmentation</a:t>
            </a:r>
            <a:endParaRPr/>
          </a:p>
        </p:txBody>
      </p:sp>
      <p:sp>
        <p:nvSpPr>
          <p:cNvPr id="165" name="Google Shape;165;p18"/>
          <p:cNvSpPr txBox="1"/>
          <p:nvPr/>
        </p:nvSpPr>
        <p:spPr>
          <a:xfrm>
            <a:off x="1690687" y="4661445"/>
            <a:ext cx="43338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Random rotations and shifts for resilience against distortions.</a:t>
            </a:r>
            <a:endParaRPr dirty="0"/>
          </a:p>
        </p:txBody>
      </p:sp>
      <p:sp>
        <p:nvSpPr>
          <p:cNvPr id="166" name="Google Shape;166;p18"/>
          <p:cNvSpPr txBox="1"/>
          <p:nvPr/>
        </p:nvSpPr>
        <p:spPr>
          <a:xfrm>
            <a:off x="6059090" y="4280445"/>
            <a:ext cx="4550568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 dirty="0">
                <a:solidFill>
                  <a:srgbClr val="F8FAFC"/>
                </a:solidFill>
                <a:latin typeface="Space Grotesk"/>
                <a:ea typeface="Space Grotesk"/>
                <a:cs typeface="Space Grotesk"/>
                <a:sym typeface="Space Grotesk"/>
              </a:rPr>
              <a:t>Data diversification</a:t>
            </a:r>
            <a:endParaRPr dirty="0"/>
          </a:p>
        </p:txBody>
      </p:sp>
      <p:sp>
        <p:nvSpPr>
          <p:cNvPr id="167" name="Google Shape;167;p18"/>
          <p:cNvSpPr txBox="1"/>
          <p:nvPr/>
        </p:nvSpPr>
        <p:spPr>
          <a:xfrm>
            <a:off x="6167437" y="4661445"/>
            <a:ext cx="4333875" cy="62324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Training with handwriting samples from diverse demographic and educational sets.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206</Words>
  <Application>Microsoft Office PowerPoint</Application>
  <PresentationFormat>Ευρεία οθόνη</PresentationFormat>
  <Paragraphs>44</Paragraphs>
  <Slides>6</Slides>
  <Notes>6</Notes>
  <HiddenSlides>0</HiddenSlides>
  <MMClips>0</MMClips>
  <ScaleCrop>false</ScaleCrop>
  <HeadingPairs>
    <vt:vector size="6" baseType="variant">
      <vt:variant>
        <vt:lpstr>Γραμματοσειρές που χρησιμοποιούνται</vt:lpstr>
      </vt:variant>
      <vt:variant>
        <vt:i4>4</vt:i4>
      </vt:variant>
      <vt:variant>
        <vt:lpstr>Θέμα</vt:lpstr>
      </vt:variant>
      <vt:variant>
        <vt:i4>1</vt:i4>
      </vt:variant>
      <vt:variant>
        <vt:lpstr>Τίτλοι διαφανειών</vt:lpstr>
      </vt:variant>
      <vt:variant>
        <vt:i4>6</vt:i4>
      </vt:variant>
    </vt:vector>
  </HeadingPairs>
  <TitlesOfParts>
    <vt:vector size="11" baseType="lpstr">
      <vt:lpstr>Calibri</vt:lpstr>
      <vt:lpstr>Space Grotesk</vt:lpstr>
      <vt:lpstr>Arial</vt:lpstr>
      <vt:lpstr>Inter</vt:lpstr>
      <vt:lpstr>Office Theme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  <vt:lpstr>Παρουσίαση του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Kyriazis Charitopoulos</cp:lastModifiedBy>
  <cp:revision>12</cp:revision>
  <dcterms:modified xsi:type="dcterms:W3CDTF">2026-10-10T15:55:49Z</dcterms:modified>
</cp:coreProperties>
</file>